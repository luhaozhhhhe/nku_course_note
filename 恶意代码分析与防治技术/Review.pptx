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67" r:id="rId15"/>
    <p:sldId id="268" r:id="rId16"/>
    <p:sldId id="271" r:id="rId17"/>
    <p:sldId id="272" r:id="rId18"/>
    <p:sldId id="273" r:id="rId19"/>
    <p:sldId id="274" r:id="rId20"/>
    <p:sldId id="275" r:id="rId21"/>
    <p:sldId id="277" r:id="rId22"/>
    <p:sldId id="276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7" r:id="rId52"/>
    <p:sldId id="306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940" autoAdjust="0"/>
  </p:normalViewPr>
  <p:slideViewPr>
    <p:cSldViewPr snapToGrid="0" snapToObjects="1">
      <p:cViewPr varScale="1">
        <p:scale>
          <a:sx n="99" d="100"/>
          <a:sy n="99" d="100"/>
        </p:scale>
        <p:origin x="142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738" y="4155141"/>
            <a:ext cx="7542212" cy="1013012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0738" y="5230906"/>
            <a:ext cx="7542212" cy="1030942"/>
          </a:xfrm>
        </p:spPr>
        <p:txBody>
          <a:bodyPr/>
          <a:lstStyle>
            <a:lvl1pPr marL="0" indent="0" algn="ctr">
              <a:spcBef>
                <a:spcPct val="30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D72A-D568-DF43-A229-D9860B52D16B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BB86C-B33B-3046-8755-94B8C75389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MoleculeTrac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019" y="224679"/>
            <a:ext cx="5795963" cy="39433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D72A-D568-DF43-A229-D9860B52D16B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BB86C-B33B-3046-8755-94B8C7538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737" y="1219013"/>
            <a:ext cx="7542213" cy="1958975"/>
          </a:xfr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5200" b="1" kern="120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0737" y="3224213"/>
            <a:ext cx="7542213" cy="1500187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FontTx/>
              <a:buNone/>
              <a:defRPr sz="2400" b="1" kern="1200">
                <a:solidFill>
                  <a:schemeClr val="tx1">
                    <a:tint val="75000"/>
                  </a:schemeClr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D72A-D568-DF43-A229-D9860B52D16B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BB86C-B33B-3046-8755-94B8C7538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7"/>
            <a:ext cx="7581901" cy="16539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9462" y="1892301"/>
            <a:ext cx="3657600" cy="39751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173288" indent="-344488">
              <a:defRPr sz="1800"/>
            </a:lvl6pPr>
            <a:lvl7pPr marL="2173288" indent="-344488">
              <a:defRPr sz="1800"/>
            </a:lvl7pPr>
            <a:lvl8pPr marL="2173288" indent="-344488">
              <a:defRPr sz="1800"/>
            </a:lvl8pPr>
            <a:lvl9pPr marL="2173288" indent="-34448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3763" y="1892301"/>
            <a:ext cx="3657600" cy="39751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173288" indent="-344488">
              <a:defRPr sz="1800"/>
            </a:lvl6pPr>
            <a:lvl7pPr marL="2173288" indent="-344488">
              <a:defRPr sz="1800"/>
            </a:lvl7pPr>
            <a:lvl8pPr marL="2173288" indent="-344488">
              <a:defRPr sz="1800"/>
            </a:lvl8pPr>
            <a:lvl9pPr marL="2173288" indent="-34448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D72A-D568-DF43-A229-D9860B52D16B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BB86C-B33B-3046-8755-94B8C7538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7"/>
            <a:ext cx="7581901" cy="16539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462" y="1761565"/>
            <a:ext cx="3657600" cy="515469"/>
          </a:xfrm>
        </p:spPr>
        <p:txBody>
          <a:bodyPr anchor="b">
            <a:normAutofit/>
          </a:bodyPr>
          <a:lstStyle>
            <a:lvl1pPr marL="0" indent="0" algn="ctr">
              <a:spcBef>
                <a:spcPct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9462" y="2393575"/>
            <a:ext cx="3657600" cy="347382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173288" indent="-344488">
              <a:defRPr sz="1600"/>
            </a:lvl6pPr>
            <a:lvl7pPr marL="2173288" indent="-344488">
              <a:defRPr sz="1600"/>
            </a:lvl7pPr>
            <a:lvl8pPr marL="2173288" indent="-344488">
              <a:defRPr sz="1600"/>
            </a:lvl8pPr>
            <a:lvl9pPr marL="2173288" indent="-344488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3763" y="1761565"/>
            <a:ext cx="3657600" cy="515469"/>
          </a:xfrm>
        </p:spPr>
        <p:txBody>
          <a:bodyPr anchor="b">
            <a:normAutofit/>
          </a:bodyPr>
          <a:lstStyle>
            <a:lvl1pPr marL="0" indent="0" algn="ctr">
              <a:spcBef>
                <a:spcPct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3763" y="2393575"/>
            <a:ext cx="3657600" cy="347382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173288" indent="-344488">
              <a:defRPr sz="1600"/>
            </a:lvl6pPr>
            <a:lvl7pPr marL="2173288" indent="-344488">
              <a:defRPr sz="1600"/>
            </a:lvl7pPr>
            <a:lvl8pPr marL="2173288" indent="-344488">
              <a:defRPr sz="1600"/>
            </a:lvl8pPr>
            <a:lvl9pPr marL="2173288" indent="-344488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D72A-D568-DF43-A229-D9860B52D16B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BB86C-B33B-3046-8755-94B8C7538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D72A-D568-DF43-A229-D9860B52D16B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BB86C-B33B-3046-8755-94B8C7538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D72A-D568-DF43-A229-D9860B52D16B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BB86C-B33B-3046-8755-94B8C7538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929" y="457201"/>
            <a:ext cx="3566160" cy="1371600"/>
          </a:xfrm>
        </p:spPr>
        <p:txBody>
          <a:bodyPr anchor="b">
            <a:normAutofit/>
          </a:bodyPr>
          <a:lstStyle>
            <a:lvl1pPr algn="ctr">
              <a:defRPr sz="3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2393" y="457201"/>
            <a:ext cx="3566160" cy="5410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 marL="2173288" indent="-344488">
              <a:defRPr lang="en-US" sz="1800" b="1" kern="1200" dirty="0" smtClean="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n-lt"/>
                <a:ea typeface="+mn-ea"/>
                <a:cs typeface="+mn-cs"/>
              </a:defRPr>
            </a:lvl6pPr>
            <a:lvl7pPr marL="2173288" indent="-344488">
              <a:defRPr lang="en-US" sz="1800" b="1" kern="1200" dirty="0" smtClean="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n-lt"/>
                <a:ea typeface="+mn-ea"/>
                <a:cs typeface="+mn-cs"/>
              </a:defRPr>
            </a:lvl7pPr>
            <a:lvl8pPr marL="2173288" indent="-344488">
              <a:defRPr lang="en-US" sz="1800" b="1" kern="1200" dirty="0" smtClean="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n-lt"/>
                <a:ea typeface="+mn-ea"/>
                <a:cs typeface="+mn-cs"/>
              </a:defRPr>
            </a:lvl8pPr>
            <a:lvl9pPr marL="2173288" indent="-344488">
              <a:defRPr sz="1800" b="1" kern="1200" dirty="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929" y="1828801"/>
            <a:ext cx="3566160" cy="3657600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D72A-D568-DF43-A229-D9860B52D16B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BB86C-B33B-3046-8755-94B8C7538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457200"/>
            <a:ext cx="3566160" cy="1371600"/>
          </a:xfrm>
        </p:spPr>
        <p:txBody>
          <a:bodyPr anchor="b">
            <a:normAutofit/>
          </a:bodyPr>
          <a:lstStyle>
            <a:lvl1pPr algn="ctr">
              <a:defRPr sz="3600" b="1" kern="120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66765" y="1676400"/>
            <a:ext cx="2975610" cy="2975610"/>
          </a:xfrm>
          <a:prstGeom prst="ellipse">
            <a:avLst/>
          </a:prstGeom>
          <a:solidFill>
            <a:schemeClr val="tx1">
              <a:lumMod val="75000"/>
            </a:schemeClr>
          </a:solidFill>
          <a:ln w="63500">
            <a:solidFill>
              <a:schemeClr val="tx1"/>
            </a:solidFill>
          </a:ln>
          <a:effectLst>
            <a:outerShdw blurRad="254000" dist="152400" dir="5400000" sx="90000" sy="-19000" rotWithShape="0">
              <a:prstClr val="black">
                <a:alpha val="2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240" y="1828800"/>
            <a:ext cx="3566160" cy="36576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600"/>
              </a:spcBef>
              <a:buNone/>
              <a:defRPr sz="2000" b="1" kern="120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D72A-D568-DF43-A229-D9860B52D16B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BB86C-B33B-3046-8755-94B8C7538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3962399"/>
            <a:ext cx="7585710" cy="672353"/>
          </a:xfrm>
        </p:spPr>
        <p:txBody>
          <a:bodyPr anchor="b">
            <a:normAutofit/>
          </a:bodyPr>
          <a:lstStyle>
            <a:lvl1pPr algn="ctr">
              <a:defRPr sz="3600" b="1" kern="120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101957" y="457200"/>
            <a:ext cx="2940087" cy="2940087"/>
          </a:xfrm>
          <a:prstGeom prst="ellipse">
            <a:avLst/>
          </a:prstGeom>
          <a:solidFill>
            <a:schemeClr val="tx1">
              <a:lumMod val="75000"/>
            </a:schemeClr>
          </a:solidFill>
          <a:ln w="63500">
            <a:solidFill>
              <a:schemeClr val="tx1"/>
            </a:solidFill>
          </a:ln>
          <a:effectLst>
            <a:outerShdw blurRad="254000" dist="152400" dir="5400000" sx="90000" sy="-19000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FontTx/>
              <a:buNone/>
              <a:defRPr sz="2400" b="1" kern="120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240" y="4639235"/>
            <a:ext cx="7585710" cy="13716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2000" b="1" kern="120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D72A-D568-DF43-A229-D9860B52D16B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BB86C-B33B-3046-8755-94B8C7538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D72A-D568-DF43-A229-D9860B52D16B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BB86C-B33B-3046-8755-94B8C7538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9365" y="416859"/>
            <a:ext cx="1940859" cy="5607424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0737" y="414015"/>
            <a:ext cx="6144839" cy="5610268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D72A-D568-DF43-A229-D9860B52D16B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BB86C-B33B-3046-8755-94B8C75389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idOverlay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60000"/>
              <a:lumOff val="40000"/>
              <a:alpha val="10000"/>
            </a:schemeClr>
          </a:solidFill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9462" y="107577"/>
            <a:ext cx="7581901" cy="16539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462" y="1882588"/>
            <a:ext cx="7581901" cy="3953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5181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</a:defRPr>
            </a:lvl1pPr>
          </a:lstStyle>
          <a:p>
            <a:fld id="{E882D72A-D568-DF43-A229-D9860B52D16B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06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1000" y="6356350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</a:defRPr>
            </a:lvl1pPr>
          </a:lstStyle>
          <a:p>
            <a:fld id="{959BB86C-B33B-3046-8755-94B8C7538934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5600" b="1" kern="120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403225" indent="-403225" algn="l" defTabSz="914400" rtl="0" eaLnBrk="1" latinLnBrk="0" hangingPunct="1">
        <a:spcBef>
          <a:spcPts val="2000"/>
        </a:spcBef>
        <a:buFontTx/>
        <a:buBlip>
          <a:blip r:embed="rId15"/>
        </a:buBlip>
        <a:defRPr sz="2400" b="1" kern="120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n-lt"/>
          <a:ea typeface="+mn-ea"/>
          <a:cs typeface="+mn-cs"/>
        </a:defRPr>
      </a:lvl1pPr>
      <a:lvl2pPr marL="806450" indent="-403225" algn="l" defTabSz="914400" rtl="0" eaLnBrk="1" latinLnBrk="0" hangingPunct="1">
        <a:spcBef>
          <a:spcPts val="600"/>
        </a:spcBef>
        <a:buFontTx/>
        <a:buBlip>
          <a:blip r:embed="rId15"/>
        </a:buBlip>
        <a:defRPr sz="2200" b="1" kern="120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n-lt"/>
          <a:ea typeface="+mn-ea"/>
          <a:cs typeface="+mn-cs"/>
        </a:defRPr>
      </a:lvl2pPr>
      <a:lvl3pPr marL="1143000" indent="-336550" algn="l" defTabSz="914400" rtl="0" eaLnBrk="1" latinLnBrk="0" hangingPunct="1">
        <a:spcBef>
          <a:spcPts val="600"/>
        </a:spcBef>
        <a:buFontTx/>
        <a:buBlip>
          <a:blip r:embed="rId15"/>
        </a:buBlip>
        <a:defRPr sz="2000" b="1" kern="120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n-lt"/>
          <a:ea typeface="+mn-ea"/>
          <a:cs typeface="+mn-cs"/>
        </a:defRPr>
      </a:lvl3pPr>
      <a:lvl4pPr marL="1492250" indent="-349250" algn="l" defTabSz="914400" rtl="0" eaLnBrk="1" latinLnBrk="0" hangingPunct="1">
        <a:spcBef>
          <a:spcPts val="600"/>
        </a:spcBef>
        <a:buFontTx/>
        <a:buBlip>
          <a:blip r:embed="rId15"/>
        </a:buBlip>
        <a:defRPr sz="1800" b="1" kern="120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n-lt"/>
          <a:ea typeface="+mn-ea"/>
          <a:cs typeface="+mn-cs"/>
        </a:defRPr>
      </a:lvl4pPr>
      <a:lvl5pPr marL="1828800" indent="-336550" algn="l" defTabSz="914400" rtl="0" eaLnBrk="1" latinLnBrk="0" hangingPunct="1">
        <a:spcBef>
          <a:spcPts val="600"/>
        </a:spcBef>
        <a:buFontTx/>
        <a:buBlip>
          <a:blip r:embed="rId15"/>
        </a:buBlip>
        <a:defRPr sz="1800" b="1" kern="120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n-lt"/>
          <a:ea typeface="+mn-ea"/>
          <a:cs typeface="+mn-cs"/>
        </a:defRPr>
      </a:lvl5pPr>
      <a:lvl6pPr marL="2173288" indent="-344488" algn="l" defTabSz="914400" rtl="0" eaLnBrk="1" latinLnBrk="0" hangingPunct="1">
        <a:spcBef>
          <a:spcPct val="20000"/>
        </a:spcBef>
        <a:buFontTx/>
        <a:buBlip>
          <a:blip r:embed="rId15"/>
        </a:buBlip>
        <a:defRPr lang="en-US" sz="1800" b="1" kern="1200" dirty="0" smtClean="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n-lt"/>
          <a:ea typeface="+mn-ea"/>
          <a:cs typeface="+mn-cs"/>
        </a:defRPr>
      </a:lvl6pPr>
      <a:lvl7pPr marL="2516188" indent="-344488" algn="l" defTabSz="914400" rtl="0" eaLnBrk="1" latinLnBrk="0" hangingPunct="1">
        <a:spcBef>
          <a:spcPct val="20000"/>
        </a:spcBef>
        <a:buFontTx/>
        <a:buBlip>
          <a:blip r:embed="rId15"/>
        </a:buBlip>
        <a:defRPr lang="en-US" sz="1800" b="1" kern="1200" dirty="0" smtClean="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n-lt"/>
          <a:ea typeface="+mn-ea"/>
          <a:cs typeface="+mn-cs"/>
        </a:defRPr>
      </a:lvl7pPr>
      <a:lvl8pPr marL="2860675" indent="-344488" algn="l" defTabSz="914400" rtl="0" eaLnBrk="1" latinLnBrk="0" hangingPunct="1">
        <a:spcBef>
          <a:spcPct val="20000"/>
        </a:spcBef>
        <a:buFontTx/>
        <a:buBlip>
          <a:blip r:embed="rId15"/>
        </a:buBlip>
        <a:defRPr lang="en-US" sz="1800" b="1" kern="1200" dirty="0" smtClean="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n-lt"/>
          <a:ea typeface="+mn-ea"/>
          <a:cs typeface="+mn-cs"/>
        </a:defRPr>
      </a:lvl8pPr>
      <a:lvl9pPr marL="3205163" indent="-344488" algn="l" defTabSz="914400" rtl="0" eaLnBrk="1" latinLnBrk="0" hangingPunct="1">
        <a:spcBef>
          <a:spcPct val="20000"/>
        </a:spcBef>
        <a:buFontTx/>
        <a:buBlip>
          <a:blip r:embed="rId15"/>
        </a:buBlip>
        <a:defRPr lang="en-US" sz="1800" b="1" kern="1200" dirty="0">
          <a:solidFill>
            <a:schemeClr val="tx1"/>
          </a:solidFill>
          <a:effectLst>
            <a:outerShdw blurRad="101600" dist="63500" dir="2700000" algn="tl" rotWithShape="0">
              <a:prstClr val="black">
                <a:alpha val="75000"/>
              </a:prstClr>
            </a:outerShdw>
          </a:effectLst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3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738" y="4917141"/>
            <a:ext cx="7542212" cy="1013012"/>
          </a:xfrm>
        </p:spPr>
        <p:txBody>
          <a:bodyPr/>
          <a:lstStyle/>
          <a:p>
            <a:r>
              <a:rPr lang="en-US" sz="4800" dirty="0"/>
              <a:t>0: Malware Analysis Primer &amp; 1: Basic Static Techniques </a:t>
            </a:r>
          </a:p>
        </p:txBody>
      </p:sp>
    </p:spTree>
    <p:extLst>
      <p:ext uri="{BB962C8B-B14F-4D97-AF65-F5344CB8AC3E}">
        <p14:creationId xmlns:p14="http://schemas.microsoft.com/office/powerpoint/2010/main" val="3139602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051423"/>
          </a:xfrm>
        </p:spPr>
        <p:txBody>
          <a:bodyPr/>
          <a:lstStyle/>
          <a:p>
            <a:r>
              <a:rPr lang="en-US" sz="3200" dirty="0"/>
              <a:t>If you open a malware file in IDA Pro and determine the purpose of each module, which type of analysis are you performing?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Basic static analysis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Basic dynamic analysis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Advanced static analysis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Advanced dynamic analysis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None of the above</a:t>
            </a:r>
          </a:p>
          <a:p>
            <a:pPr marL="514350" indent="-514350">
              <a:buFont typeface="+mj-lt"/>
              <a:buAutoNum type="alphaUcPeriod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83081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051423"/>
          </a:xfrm>
        </p:spPr>
        <p:txBody>
          <a:bodyPr/>
          <a:lstStyle/>
          <a:p>
            <a:r>
              <a:rPr lang="en-US" sz="3200" dirty="0"/>
              <a:t>If you run </a:t>
            </a:r>
            <a:r>
              <a:rPr lang="en-US" sz="3200" dirty="0" err="1"/>
              <a:t>strings.exe</a:t>
            </a:r>
            <a:r>
              <a:rPr lang="en-US" sz="3200" dirty="0"/>
              <a:t> on a malware file, which type of analysis are you performing?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Basic static analysis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Basic dynamic analysis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Advanced static analysis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Advanced dynamic analysis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None of the above</a:t>
            </a:r>
          </a:p>
          <a:p>
            <a:pPr marL="514350" indent="-514350">
              <a:buFont typeface="+mj-lt"/>
              <a:buAutoNum type="alphaUcPeriod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85144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051423"/>
          </a:xfrm>
        </p:spPr>
        <p:txBody>
          <a:bodyPr/>
          <a:lstStyle/>
          <a:p>
            <a:r>
              <a:rPr lang="en-US" sz="3200" dirty="0"/>
              <a:t>Which type of the existence of other </a:t>
            </a:r>
            <a:r>
              <a:rPr lang="en-US" sz="3200" dirty="0" err="1"/>
              <a:t>cod</a:t>
            </a:r>
            <a:r>
              <a:rPr lang="en-US" altLang="zh-CN" sz="3200" dirty="0" err="1"/>
              <a:t>malware</a:t>
            </a:r>
            <a:r>
              <a:rPr lang="en-US" altLang="zh-CN" sz="3200" dirty="0"/>
              <a:t> conceals </a:t>
            </a:r>
            <a:r>
              <a:rPr lang="en-US" sz="3200" dirty="0"/>
              <a:t>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Backdoor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Botnet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Downloader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 err="1"/>
              <a:t>Keylogger</a:t>
            </a:r>
            <a:endParaRPr lang="en-US" sz="3200" dirty="0"/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Rootkit</a:t>
            </a:r>
          </a:p>
        </p:txBody>
      </p:sp>
    </p:spTree>
    <p:extLst>
      <p:ext uri="{BB962C8B-B14F-4D97-AF65-F5344CB8AC3E}">
        <p14:creationId xmlns:p14="http://schemas.microsoft.com/office/powerpoint/2010/main" val="4085144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738" y="4917141"/>
            <a:ext cx="7843484" cy="1013012"/>
          </a:xfrm>
        </p:spPr>
        <p:txBody>
          <a:bodyPr/>
          <a:lstStyle/>
          <a:p>
            <a:r>
              <a:rPr lang="en-US" sz="4800" dirty="0"/>
              <a:t>2: Malware Analysis in Virtual Machines &amp; 3: Basic Dynamic Analysis </a:t>
            </a:r>
          </a:p>
        </p:txBody>
      </p:sp>
    </p:spTree>
    <p:extLst>
      <p:ext uri="{BB962C8B-B14F-4D97-AF65-F5344CB8AC3E}">
        <p14:creationId xmlns:p14="http://schemas.microsoft.com/office/powerpoint/2010/main" val="3081154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051423"/>
          </a:xfrm>
        </p:spPr>
        <p:txBody>
          <a:bodyPr/>
          <a:lstStyle/>
          <a:p>
            <a:r>
              <a:rPr lang="en-US" sz="3200" dirty="0"/>
              <a:t>Which item below can be used to conceal the strings in an executable?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UPX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 err="1"/>
              <a:t>PEiD</a:t>
            </a:r>
            <a:endParaRPr lang="en-US" sz="3200" dirty="0"/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PE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ELF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DLL</a:t>
            </a:r>
          </a:p>
        </p:txBody>
      </p:sp>
    </p:spTree>
    <p:extLst>
      <p:ext uri="{BB962C8B-B14F-4D97-AF65-F5344CB8AC3E}">
        <p14:creationId xmlns:p14="http://schemas.microsoft.com/office/powerpoint/2010/main" val="1785038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051423"/>
          </a:xfrm>
        </p:spPr>
        <p:txBody>
          <a:bodyPr/>
          <a:lstStyle/>
          <a:p>
            <a:r>
              <a:rPr lang="en-US" sz="3200" dirty="0"/>
              <a:t>What type of file is </a:t>
            </a:r>
            <a:r>
              <a:rPr lang="en-US" sz="3200" dirty="0" err="1"/>
              <a:t>calc.exe</a:t>
            </a:r>
            <a:r>
              <a:rPr lang="en-US" sz="3200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UPX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 err="1"/>
              <a:t>PEiD</a:t>
            </a:r>
            <a:endParaRPr lang="en-US" sz="3200" dirty="0"/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PE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ELF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DLL</a:t>
            </a:r>
          </a:p>
        </p:txBody>
      </p:sp>
    </p:spTree>
    <p:extLst>
      <p:ext uri="{BB962C8B-B14F-4D97-AF65-F5344CB8AC3E}">
        <p14:creationId xmlns:p14="http://schemas.microsoft.com/office/powerpoint/2010/main" val="3599189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051423"/>
          </a:xfrm>
        </p:spPr>
        <p:txBody>
          <a:bodyPr/>
          <a:lstStyle/>
          <a:p>
            <a:r>
              <a:rPr lang="en-US" sz="3200" dirty="0"/>
              <a:t>How many bytes are used to store the string HELLO in Unicode?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5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6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10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12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Some other number</a:t>
            </a:r>
          </a:p>
        </p:txBody>
      </p:sp>
    </p:spTree>
    <p:extLst>
      <p:ext uri="{BB962C8B-B14F-4D97-AF65-F5344CB8AC3E}">
        <p14:creationId xmlns:p14="http://schemas.microsoft.com/office/powerpoint/2010/main" val="1952299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051423"/>
          </a:xfrm>
        </p:spPr>
        <p:txBody>
          <a:bodyPr/>
          <a:lstStyle/>
          <a:p>
            <a:r>
              <a:rPr lang="en-US" sz="3200" dirty="0"/>
              <a:t>Which library is the interface to the Windows kernel?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Kernel32.dll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User32.dll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Ntdll.dll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WSock32.dll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Wininet.dll</a:t>
            </a:r>
          </a:p>
        </p:txBody>
      </p:sp>
    </p:spTree>
    <p:extLst>
      <p:ext uri="{BB962C8B-B14F-4D97-AF65-F5344CB8AC3E}">
        <p14:creationId xmlns:p14="http://schemas.microsoft.com/office/powerpoint/2010/main" val="202956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051423"/>
          </a:xfrm>
        </p:spPr>
        <p:txBody>
          <a:bodyPr/>
          <a:lstStyle/>
          <a:p>
            <a:r>
              <a:rPr lang="en-US" sz="3200" dirty="0"/>
              <a:t>Which PE section contains CPU instructions?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.text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.</a:t>
            </a:r>
            <a:r>
              <a:rPr lang="en-US" sz="3200" dirty="0" err="1"/>
              <a:t>rdata</a:t>
            </a:r>
            <a:endParaRPr lang="en-US" sz="3200" dirty="0"/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.data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.</a:t>
            </a:r>
            <a:r>
              <a:rPr lang="en-US" sz="3200" dirty="0" err="1"/>
              <a:t>rsrc</a:t>
            </a:r>
            <a:endParaRPr lang="en-US" sz="3200" dirty="0"/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.</a:t>
            </a:r>
            <a:r>
              <a:rPr lang="en-US" sz="3200" dirty="0" err="1"/>
              <a:t>reloc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35265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051423"/>
          </a:xfrm>
        </p:spPr>
        <p:txBody>
          <a:bodyPr/>
          <a:lstStyle/>
          <a:p>
            <a:r>
              <a:rPr lang="en-US" sz="3200" dirty="0"/>
              <a:t>Which tool reveals which services are hosted by each instance of </a:t>
            </a:r>
            <a:r>
              <a:rPr lang="en-US" sz="3200" dirty="0" err="1"/>
              <a:t>scvhost</a:t>
            </a:r>
            <a:r>
              <a:rPr lang="en-US" sz="3200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Procmon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Process explorer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Dependency Walker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Regshot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INetSim</a:t>
            </a:r>
          </a:p>
        </p:txBody>
      </p:sp>
    </p:spTree>
    <p:extLst>
      <p:ext uri="{BB962C8B-B14F-4D97-AF65-F5344CB8AC3E}">
        <p14:creationId xmlns:p14="http://schemas.microsoft.com/office/powerpoint/2010/main" val="127598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051423"/>
          </a:xfrm>
        </p:spPr>
        <p:txBody>
          <a:bodyPr/>
          <a:lstStyle/>
          <a:p>
            <a:r>
              <a:rPr lang="en-US" sz="3200" dirty="0"/>
              <a:t>Which tool is specifically intended to aid analysis of the network traffic from malware?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Procmon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Process explorer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Dependency Walker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Regshot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INetSim</a:t>
            </a:r>
          </a:p>
        </p:txBody>
      </p:sp>
    </p:spTree>
    <p:extLst>
      <p:ext uri="{BB962C8B-B14F-4D97-AF65-F5344CB8AC3E}">
        <p14:creationId xmlns:p14="http://schemas.microsoft.com/office/powerpoint/2010/main" val="2027566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738" y="4917141"/>
            <a:ext cx="7843484" cy="1013012"/>
          </a:xfrm>
        </p:spPr>
        <p:txBody>
          <a:bodyPr/>
          <a:lstStyle/>
          <a:p>
            <a:r>
              <a:rPr lang="en-US" sz="4800" dirty="0"/>
              <a:t>4: A Crash Course in x86 Disassembly </a:t>
            </a:r>
          </a:p>
        </p:txBody>
      </p:sp>
    </p:spTree>
    <p:extLst>
      <p:ext uri="{BB962C8B-B14F-4D97-AF65-F5344CB8AC3E}">
        <p14:creationId xmlns:p14="http://schemas.microsoft.com/office/powerpoint/2010/main" val="3795538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051423"/>
          </a:xfrm>
        </p:spPr>
        <p:txBody>
          <a:bodyPr/>
          <a:lstStyle/>
          <a:p>
            <a:r>
              <a:rPr lang="en-US" sz="3200" dirty="0"/>
              <a:t>Which type of language contains commands like this?</a:t>
            </a:r>
            <a:br>
              <a:rPr lang="en-US" sz="3200" dirty="0"/>
            </a:br>
            <a:r>
              <a:rPr lang="en-US" sz="3200" dirty="0" err="1"/>
              <a:t>xor</a:t>
            </a:r>
            <a:r>
              <a:rPr lang="en-US" sz="3200" dirty="0"/>
              <a:t> </a:t>
            </a:r>
            <a:r>
              <a:rPr lang="en-US" sz="3200" dirty="0" err="1"/>
              <a:t>eax,eax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Machine code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Interpreted language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High-level language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Low-level language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None of the above</a:t>
            </a:r>
          </a:p>
        </p:txBody>
      </p:sp>
    </p:spTree>
    <p:extLst>
      <p:ext uri="{BB962C8B-B14F-4D97-AF65-F5344CB8AC3E}">
        <p14:creationId xmlns:p14="http://schemas.microsoft.com/office/powerpoint/2010/main" val="3151676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051423"/>
          </a:xfrm>
        </p:spPr>
        <p:txBody>
          <a:bodyPr/>
          <a:lstStyle/>
          <a:p>
            <a:r>
              <a:rPr lang="en-US" sz="3200" dirty="0"/>
              <a:t>Which memory section contains objects created by the malloc() function?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Stack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Heap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Code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Data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None of the above</a:t>
            </a:r>
          </a:p>
        </p:txBody>
      </p:sp>
    </p:spTree>
    <p:extLst>
      <p:ext uri="{BB962C8B-B14F-4D97-AF65-F5344CB8AC3E}">
        <p14:creationId xmlns:p14="http://schemas.microsoft.com/office/powerpoint/2010/main" val="3967079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051423"/>
          </a:xfrm>
        </p:spPr>
        <p:txBody>
          <a:bodyPr/>
          <a:lstStyle/>
          <a:p>
            <a:r>
              <a:rPr lang="en-US" sz="3200" dirty="0"/>
              <a:t>Which register points to the top of the stack?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EFLAGS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EAX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EIP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EBP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ESP</a:t>
            </a:r>
          </a:p>
        </p:txBody>
      </p:sp>
    </p:spTree>
    <p:extLst>
      <p:ext uri="{BB962C8B-B14F-4D97-AF65-F5344CB8AC3E}">
        <p14:creationId xmlns:p14="http://schemas.microsoft.com/office/powerpoint/2010/main" val="2648722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3074720"/>
          </a:xfrm>
        </p:spPr>
        <p:txBody>
          <a:bodyPr/>
          <a:lstStyle/>
          <a:p>
            <a:r>
              <a:rPr lang="en-US" sz="3200" dirty="0"/>
              <a:t>What is the value in eax after these instructions?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mov ebx, 0x10</a:t>
            </a:r>
            <a:br>
              <a:rPr lang="en-US" sz="3200" dirty="0"/>
            </a:br>
            <a:r>
              <a:rPr lang="en-US" sz="3200" dirty="0"/>
              <a:t>mov eax, ebx</a:t>
            </a:r>
            <a:br>
              <a:rPr lang="en-US" sz="3200" dirty="0"/>
            </a:br>
            <a:r>
              <a:rPr lang="en-US" sz="3200" dirty="0"/>
              <a:t>inc ebx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0xf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0x5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0x9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0x10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0x11</a:t>
            </a:r>
          </a:p>
        </p:txBody>
      </p:sp>
    </p:spTree>
    <p:extLst>
      <p:ext uri="{BB962C8B-B14F-4D97-AF65-F5344CB8AC3E}">
        <p14:creationId xmlns:p14="http://schemas.microsoft.com/office/powerpoint/2010/main" val="2840647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738" y="4917141"/>
            <a:ext cx="7843484" cy="1013012"/>
          </a:xfrm>
        </p:spPr>
        <p:txBody>
          <a:bodyPr/>
          <a:lstStyle/>
          <a:p>
            <a:r>
              <a:rPr lang="en-US" sz="4800" dirty="0"/>
              <a:t>5: IDA Pro </a:t>
            </a:r>
          </a:p>
        </p:txBody>
      </p:sp>
    </p:spTree>
    <p:extLst>
      <p:ext uri="{BB962C8B-B14F-4D97-AF65-F5344CB8AC3E}">
        <p14:creationId xmlns:p14="http://schemas.microsoft.com/office/powerpoint/2010/main" val="1349394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405" y="107576"/>
            <a:ext cx="4712573" cy="3105319"/>
          </a:xfrm>
        </p:spPr>
        <p:txBody>
          <a:bodyPr/>
          <a:lstStyle/>
          <a:p>
            <a:r>
              <a:rPr lang="en-US" sz="3200" b="0" dirty="0">
                <a:effectLst/>
              </a:rPr>
              <a:t>In IDA Pro, you are in graph mode, as shown to the right.  How can you get into text mode, as shown in the lower image?</a:t>
            </a:r>
            <a:endParaRPr lang="en-US" sz="3200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520" y="3274087"/>
            <a:ext cx="7825843" cy="3295858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F9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SPACEBAR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Enter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 err="1"/>
              <a:t>Ctrl+C</a:t>
            </a:r>
            <a:endParaRPr lang="en-US" sz="3200" dirty="0"/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None of the above</a:t>
            </a:r>
          </a:p>
        </p:txBody>
      </p:sp>
      <p:pic>
        <p:nvPicPr>
          <p:cNvPr id="1025" name="Picture 1" descr="Screen Shot 2013-12-08 at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459" y="361217"/>
            <a:ext cx="3784600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Screen Shot 2013-12-08 at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0434" y="2972654"/>
            <a:ext cx="3549650" cy="256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12934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738" y="4917141"/>
            <a:ext cx="7843484" cy="1013012"/>
          </a:xfrm>
        </p:spPr>
        <p:txBody>
          <a:bodyPr/>
          <a:lstStyle/>
          <a:p>
            <a:r>
              <a:rPr lang="en-US" sz="4800" dirty="0"/>
              <a:t>6: Recognizing C Code Constructs in Assembly </a:t>
            </a:r>
          </a:p>
        </p:txBody>
      </p:sp>
    </p:spTree>
    <p:extLst>
      <p:ext uri="{BB962C8B-B14F-4D97-AF65-F5344CB8AC3E}">
        <p14:creationId xmlns:p14="http://schemas.microsoft.com/office/powerpoint/2010/main" val="2984150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1942557"/>
          </a:xfrm>
        </p:spPr>
        <p:txBody>
          <a:bodyPr/>
          <a:lstStyle/>
          <a:p>
            <a:r>
              <a:rPr lang="en-US" sz="3200" dirty="0"/>
              <a:t>When printf("%d", 2); is executed, how is the value 2 passed to the printf function?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As a global variable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On the stack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In the heap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In the .</a:t>
            </a:r>
            <a:r>
              <a:rPr lang="en-US" sz="3200" dirty="0" err="1"/>
              <a:t>rsrc</a:t>
            </a:r>
            <a:r>
              <a:rPr lang="en-US" sz="3200" dirty="0"/>
              <a:t> section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None of the above</a:t>
            </a:r>
          </a:p>
        </p:txBody>
      </p:sp>
    </p:spTree>
    <p:extLst>
      <p:ext uri="{BB962C8B-B14F-4D97-AF65-F5344CB8AC3E}">
        <p14:creationId xmlns:p14="http://schemas.microsoft.com/office/powerpoint/2010/main" val="3134303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738" y="4917141"/>
            <a:ext cx="7843484" cy="1013012"/>
          </a:xfrm>
        </p:spPr>
        <p:txBody>
          <a:bodyPr/>
          <a:lstStyle/>
          <a:p>
            <a:r>
              <a:rPr lang="en-US" sz="4800" dirty="0"/>
              <a:t>7: Analyzing Malicious Windows Programs </a:t>
            </a:r>
          </a:p>
        </p:txBody>
      </p:sp>
    </p:spTree>
    <p:extLst>
      <p:ext uri="{BB962C8B-B14F-4D97-AF65-F5344CB8AC3E}">
        <p14:creationId xmlns:p14="http://schemas.microsoft.com/office/powerpoint/2010/main" val="19054993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1942557"/>
          </a:xfrm>
        </p:spPr>
        <p:txBody>
          <a:bodyPr/>
          <a:lstStyle/>
          <a:p>
            <a:r>
              <a:rPr lang="en-US" sz="3200" dirty="0"/>
              <a:t>Which item allows malware to launch each time Windows is started?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Handle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Run key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ADS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.</a:t>
            </a:r>
            <a:r>
              <a:rPr lang="en-US" sz="3200" dirty="0" err="1"/>
              <a:t>reg</a:t>
            </a:r>
            <a:r>
              <a:rPr lang="en-US" sz="3200" dirty="0"/>
              <a:t> file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 err="1"/>
              <a:t>WinINet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205306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1942557"/>
          </a:xfrm>
        </p:spPr>
        <p:txBody>
          <a:bodyPr/>
          <a:lstStyle/>
          <a:p>
            <a:r>
              <a:rPr lang="en-US" sz="3200" dirty="0"/>
              <a:t>Which item is used to refer to a menu, process, or other Windows object?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Handle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Run key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ADS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.</a:t>
            </a:r>
            <a:r>
              <a:rPr lang="en-US" sz="3200" dirty="0" err="1"/>
              <a:t>reg</a:t>
            </a:r>
            <a:r>
              <a:rPr lang="en-US" sz="3200" dirty="0"/>
              <a:t> file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 err="1"/>
              <a:t>WinINet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471983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1942557"/>
          </a:xfrm>
        </p:spPr>
        <p:txBody>
          <a:bodyPr/>
          <a:lstStyle/>
          <a:p>
            <a:r>
              <a:rPr lang="en-US" sz="3200" dirty="0"/>
              <a:t>Which item allows </a:t>
            </a:r>
            <a:r>
              <a:rPr lang="en-US" sz="3200" dirty="0" err="1"/>
              <a:t>interprocess</a:t>
            </a:r>
            <a:r>
              <a:rPr lang="en-US" sz="3200" dirty="0"/>
              <a:t> communication?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 err="1"/>
              <a:t>DLLMain</a:t>
            </a:r>
            <a:endParaRPr lang="en-US" sz="3200" dirty="0"/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Process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Thread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Mutex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Service</a:t>
            </a:r>
          </a:p>
        </p:txBody>
      </p:sp>
    </p:spTree>
    <p:extLst>
      <p:ext uri="{BB962C8B-B14F-4D97-AF65-F5344CB8AC3E}">
        <p14:creationId xmlns:p14="http://schemas.microsoft.com/office/powerpoint/2010/main" val="3147198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1942557"/>
          </a:xfrm>
        </p:spPr>
        <p:txBody>
          <a:bodyPr/>
          <a:lstStyle/>
          <a:p>
            <a:r>
              <a:rPr lang="en-US" sz="3200" dirty="0"/>
              <a:t>Which of these specifies what will happen after division by zero?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COM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SEH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User mode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Kernel mode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Services</a:t>
            </a:r>
          </a:p>
        </p:txBody>
      </p:sp>
    </p:spTree>
    <p:extLst>
      <p:ext uri="{BB962C8B-B14F-4D97-AF65-F5344CB8AC3E}">
        <p14:creationId xmlns:p14="http://schemas.microsoft.com/office/powerpoint/2010/main" val="38053470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1942557"/>
          </a:xfrm>
        </p:spPr>
        <p:txBody>
          <a:bodyPr/>
          <a:lstStyle/>
          <a:p>
            <a:r>
              <a:rPr lang="en-US" sz="3200" dirty="0"/>
              <a:t>Which of these items runs in kernel mode?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Kernel32.dll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Ntdll.dll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Ntoskrnl.exe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Svchost.exe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COMMAND.COM</a:t>
            </a:r>
          </a:p>
        </p:txBody>
      </p:sp>
    </p:spTree>
    <p:extLst>
      <p:ext uri="{BB962C8B-B14F-4D97-AF65-F5344CB8AC3E}">
        <p14:creationId xmlns:p14="http://schemas.microsoft.com/office/powerpoint/2010/main" val="19252510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Screen Shot 2013-12-08 at 11.26.10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025" y="714375"/>
            <a:ext cx="58801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1816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738" y="4917141"/>
            <a:ext cx="7843484" cy="1013012"/>
          </a:xfrm>
        </p:spPr>
        <p:txBody>
          <a:bodyPr/>
          <a:lstStyle/>
          <a:p>
            <a:r>
              <a:rPr lang="en-US" sz="4800" dirty="0"/>
              <a:t>8: Debugging </a:t>
            </a:r>
          </a:p>
        </p:txBody>
      </p:sp>
    </p:spTree>
    <p:extLst>
      <p:ext uri="{BB962C8B-B14F-4D97-AF65-F5344CB8AC3E}">
        <p14:creationId xmlns:p14="http://schemas.microsoft.com/office/powerpoint/2010/main" val="20361908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1942557"/>
          </a:xfrm>
        </p:spPr>
        <p:txBody>
          <a:bodyPr/>
          <a:lstStyle/>
          <a:p>
            <a:r>
              <a:rPr lang="en-US" sz="3200" dirty="0"/>
              <a:t>Which debugger feature slows down execution substantially?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Step over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Step into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INT 3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Hardware execution breakpoints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Conditional breakpoints</a:t>
            </a:r>
          </a:p>
        </p:txBody>
      </p:sp>
    </p:spTree>
    <p:extLst>
      <p:ext uri="{BB962C8B-B14F-4D97-AF65-F5344CB8AC3E}">
        <p14:creationId xmlns:p14="http://schemas.microsoft.com/office/powerpoint/2010/main" val="9859295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1942557"/>
          </a:xfrm>
        </p:spPr>
        <p:txBody>
          <a:bodyPr/>
          <a:lstStyle/>
          <a:p>
            <a:r>
              <a:rPr lang="en-US" sz="3200" dirty="0"/>
              <a:t>What is the most common type of breakpoint?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Step over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Step into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INT 3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Hardware execution breakpoints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Conditional breakpoints</a:t>
            </a:r>
          </a:p>
        </p:txBody>
      </p:sp>
    </p:spTree>
    <p:extLst>
      <p:ext uri="{BB962C8B-B14F-4D97-AF65-F5344CB8AC3E}">
        <p14:creationId xmlns:p14="http://schemas.microsoft.com/office/powerpoint/2010/main" val="11296900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738" y="4917141"/>
            <a:ext cx="7843484" cy="1013012"/>
          </a:xfrm>
        </p:spPr>
        <p:txBody>
          <a:bodyPr/>
          <a:lstStyle/>
          <a:p>
            <a:r>
              <a:rPr lang="en-US" sz="4800" dirty="0"/>
              <a:t>9: OllyDbg </a:t>
            </a:r>
          </a:p>
        </p:txBody>
      </p:sp>
    </p:spTree>
    <p:extLst>
      <p:ext uri="{BB962C8B-B14F-4D97-AF65-F5344CB8AC3E}">
        <p14:creationId xmlns:p14="http://schemas.microsoft.com/office/powerpoint/2010/main" val="34168086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1942557"/>
          </a:xfrm>
        </p:spPr>
        <p:txBody>
          <a:bodyPr/>
          <a:lstStyle/>
          <a:p>
            <a:r>
              <a:rPr lang="en-US" sz="3200" dirty="0"/>
              <a:t>Which process requires a .</a:t>
            </a:r>
            <a:r>
              <a:rPr lang="en-US" sz="3200" dirty="0" err="1"/>
              <a:t>reloc</a:t>
            </a:r>
            <a:r>
              <a:rPr lang="en-US" sz="3200" dirty="0"/>
              <a:t> section?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Rebasing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0xCC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 err="1"/>
              <a:t>DLLMain</a:t>
            </a:r>
            <a:endParaRPr lang="en-US" sz="3200" dirty="0"/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Back trace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Run Trace</a:t>
            </a:r>
          </a:p>
        </p:txBody>
      </p:sp>
    </p:spTree>
    <p:extLst>
      <p:ext uri="{BB962C8B-B14F-4D97-AF65-F5344CB8AC3E}">
        <p14:creationId xmlns:p14="http://schemas.microsoft.com/office/powerpoint/2010/main" val="34103787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1942557"/>
          </a:xfrm>
        </p:spPr>
        <p:txBody>
          <a:bodyPr/>
          <a:lstStyle/>
          <a:p>
            <a:r>
              <a:rPr lang="en-US" sz="3200" dirty="0"/>
              <a:t>Which process happens when you press the - key in OllyDbg?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Rebasing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0xCC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 err="1"/>
              <a:t>DLLMain</a:t>
            </a:r>
            <a:endParaRPr lang="en-US" sz="3200" dirty="0"/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Back trace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Run Trace</a:t>
            </a:r>
          </a:p>
        </p:txBody>
      </p:sp>
    </p:spTree>
    <p:extLst>
      <p:ext uri="{BB962C8B-B14F-4D97-AF65-F5344CB8AC3E}">
        <p14:creationId xmlns:p14="http://schemas.microsoft.com/office/powerpoint/2010/main" val="24598271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738" y="4917141"/>
            <a:ext cx="7843484" cy="1013012"/>
          </a:xfrm>
        </p:spPr>
        <p:txBody>
          <a:bodyPr/>
          <a:lstStyle/>
          <a:p>
            <a:r>
              <a:rPr lang="en-US" sz="4800" dirty="0"/>
              <a:t>10: Kernel Debugging with </a:t>
            </a:r>
            <a:r>
              <a:rPr lang="en-US" sz="4800" dirty="0" err="1"/>
              <a:t>WinDbg</a:t>
            </a:r>
            <a:r>
              <a:rPr lang="en-US" sz="4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01332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997" y="389017"/>
            <a:ext cx="7581901" cy="3701999"/>
          </a:xfrm>
        </p:spPr>
        <p:txBody>
          <a:bodyPr/>
          <a:lstStyle/>
          <a:p>
            <a:r>
              <a:rPr lang="en-US" sz="3200" dirty="0"/>
              <a:t>How many of these objects run in kernel mode?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>
                <a:solidFill>
                  <a:srgbClr val="FF0000"/>
                </a:solidFill>
              </a:rPr>
              <a:t>Driver</a:t>
            </a:r>
            <a:br>
              <a:rPr lang="en-US" sz="3200" dirty="0"/>
            </a:br>
            <a:r>
              <a:rPr lang="en-US" sz="3200" dirty="0"/>
              <a:t>Device object</a:t>
            </a:r>
            <a:br>
              <a:rPr lang="en-US" sz="3200" dirty="0"/>
            </a:br>
            <a:r>
              <a:rPr lang="en-US" sz="3200" dirty="0" err="1"/>
              <a:t>Ntdll.exe</a:t>
            </a:r>
            <a:br>
              <a:rPr lang="en-US" sz="3200" dirty="0"/>
            </a:br>
            <a:r>
              <a:rPr lang="en-US" sz="3200" dirty="0">
                <a:solidFill>
                  <a:srgbClr val="FF0000"/>
                </a:solidFill>
              </a:rPr>
              <a:t>Ntoskrnl.exe</a:t>
            </a:r>
            <a:br>
              <a:rPr lang="en-US" sz="3200" dirty="0"/>
            </a:br>
            <a:r>
              <a:rPr lang="en-US" sz="3200" dirty="0"/>
              <a:t>Kernel32.dll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1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2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3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4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Some other number</a:t>
            </a:r>
          </a:p>
        </p:txBody>
      </p:sp>
    </p:spTree>
    <p:extLst>
      <p:ext uri="{BB962C8B-B14F-4D97-AF65-F5344CB8AC3E}">
        <p14:creationId xmlns:p14="http://schemas.microsoft.com/office/powerpoint/2010/main" val="36809079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Screen Shot 2013-12-08 at 2.03.4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75" y="202267"/>
            <a:ext cx="6959600" cy="612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7157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7"/>
            <a:ext cx="7581901" cy="1987924"/>
          </a:xfrm>
        </p:spPr>
        <p:txBody>
          <a:bodyPr/>
          <a:lstStyle/>
          <a:p>
            <a:r>
              <a:rPr lang="en-US" sz="3200" dirty="0"/>
              <a:t>Which software allows kernel debugging?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INetSim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OllyDbg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 err="1">
                <a:solidFill>
                  <a:srgbClr val="FF0000"/>
                </a:solidFill>
              </a:rPr>
              <a:t>WinDbg</a:t>
            </a:r>
            <a:endParaRPr lang="en-US" sz="3200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IDA Pro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Process Monitor</a:t>
            </a:r>
          </a:p>
        </p:txBody>
      </p:sp>
    </p:spTree>
    <p:extLst>
      <p:ext uri="{BB962C8B-B14F-4D97-AF65-F5344CB8AC3E}">
        <p14:creationId xmlns:p14="http://schemas.microsoft.com/office/powerpoint/2010/main" val="3460637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7"/>
            <a:ext cx="7581901" cy="1987924"/>
          </a:xfrm>
        </p:spPr>
        <p:txBody>
          <a:bodyPr/>
          <a:lstStyle/>
          <a:p>
            <a:r>
              <a:rPr lang="en-US" sz="3200" dirty="0"/>
              <a:t>Which software can analyze a crash dump?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INetSim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OllyDbg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 err="1">
                <a:solidFill>
                  <a:srgbClr val="FF0000"/>
                </a:solidFill>
              </a:rPr>
              <a:t>WinDbg</a:t>
            </a:r>
            <a:endParaRPr lang="en-US" sz="3200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IDA Pro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Process Monitor</a:t>
            </a:r>
          </a:p>
        </p:txBody>
      </p:sp>
    </p:spTree>
    <p:extLst>
      <p:ext uri="{BB962C8B-B14F-4D97-AF65-F5344CB8AC3E}">
        <p14:creationId xmlns:p14="http://schemas.microsoft.com/office/powerpoint/2010/main" val="24793278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7"/>
            <a:ext cx="7581901" cy="1987924"/>
          </a:xfrm>
        </p:spPr>
        <p:txBody>
          <a:bodyPr/>
          <a:lstStyle/>
          <a:p>
            <a:r>
              <a:rPr lang="en-US" sz="3200" dirty="0"/>
              <a:t>What technique is most commonly used in kernel-mode rootkits?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SSDT Hooking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Interrupts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Breakpoints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DLL Injection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Drivers</a:t>
            </a:r>
          </a:p>
        </p:txBody>
      </p:sp>
    </p:spTree>
    <p:extLst>
      <p:ext uri="{BB962C8B-B14F-4D97-AF65-F5344CB8AC3E}">
        <p14:creationId xmlns:p14="http://schemas.microsoft.com/office/powerpoint/2010/main" val="19937466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738" y="4917141"/>
            <a:ext cx="7843484" cy="1013012"/>
          </a:xfrm>
        </p:spPr>
        <p:txBody>
          <a:bodyPr/>
          <a:lstStyle/>
          <a:p>
            <a:r>
              <a:rPr lang="en-US" sz="4800" dirty="0"/>
              <a:t>11: Malware Behavior </a:t>
            </a:r>
          </a:p>
        </p:txBody>
      </p:sp>
    </p:spTree>
    <p:extLst>
      <p:ext uri="{BB962C8B-B14F-4D97-AF65-F5344CB8AC3E}">
        <p14:creationId xmlns:p14="http://schemas.microsoft.com/office/powerpoint/2010/main" val="40744419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325345"/>
          </a:xfrm>
        </p:spPr>
        <p:txBody>
          <a:bodyPr/>
          <a:lstStyle/>
          <a:p>
            <a:r>
              <a:rPr lang="en-US" sz="3200" dirty="0"/>
              <a:t>Which item refers to a connection originating from inside the Windows firewall?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Downloader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Launcher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Backdoor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Reverse shell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RAT</a:t>
            </a:r>
          </a:p>
        </p:txBody>
      </p:sp>
    </p:spTree>
    <p:extLst>
      <p:ext uri="{BB962C8B-B14F-4D97-AF65-F5344CB8AC3E}">
        <p14:creationId xmlns:p14="http://schemas.microsoft.com/office/powerpoint/2010/main" val="34378711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325345"/>
          </a:xfrm>
        </p:spPr>
        <p:txBody>
          <a:bodyPr/>
          <a:lstStyle/>
          <a:p>
            <a:r>
              <a:rPr lang="en-US" sz="3200" dirty="0"/>
              <a:t>Which category contains Poison Ivy?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Downloader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Launcher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Backdoor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Reverse shell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RAT</a:t>
            </a:r>
          </a:p>
        </p:txBody>
      </p:sp>
    </p:spTree>
    <p:extLst>
      <p:ext uri="{BB962C8B-B14F-4D97-AF65-F5344CB8AC3E}">
        <p14:creationId xmlns:p14="http://schemas.microsoft.com/office/powerpoint/2010/main" val="41200060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325345"/>
          </a:xfrm>
        </p:spPr>
        <p:txBody>
          <a:bodyPr/>
          <a:lstStyle/>
          <a:p>
            <a:r>
              <a:rPr lang="en-US" sz="3200" dirty="0"/>
              <a:t>Which technique specifically steals credentials?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GINA Interception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Hash dumping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 err="1">
                <a:solidFill>
                  <a:srgbClr val="FF0000"/>
                </a:solidFill>
              </a:rPr>
              <a:t>GetAsyncKeyState</a:t>
            </a:r>
            <a:endParaRPr lang="en-US" sz="3200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sz="3200" dirty="0" err="1"/>
              <a:t>AppInit_DLLs</a:t>
            </a:r>
            <a:endParaRPr lang="en-US" sz="3200" dirty="0"/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DLL Load-Order Hijacking</a:t>
            </a:r>
          </a:p>
        </p:txBody>
      </p:sp>
    </p:spTree>
    <p:extLst>
      <p:ext uri="{BB962C8B-B14F-4D97-AF65-F5344CB8AC3E}">
        <p14:creationId xmlns:p14="http://schemas.microsoft.com/office/powerpoint/2010/main" val="41200060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325345"/>
          </a:xfrm>
        </p:spPr>
        <p:txBody>
          <a:bodyPr/>
          <a:lstStyle/>
          <a:p>
            <a:br>
              <a:rPr lang="en-US" sz="3200" dirty="0"/>
            </a:br>
            <a:r>
              <a:rPr lang="en-US" sz="3200" dirty="0"/>
              <a:t>Which technique is also called Companion Trojan?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GINA Interception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Hash dumping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 err="1"/>
              <a:t>GetAsyncKeyState</a:t>
            </a:r>
            <a:endParaRPr lang="en-US" sz="3200" dirty="0"/>
          </a:p>
          <a:p>
            <a:pPr marL="514350" indent="-514350">
              <a:buFont typeface="+mj-lt"/>
              <a:buAutoNum type="alphaUcPeriod"/>
            </a:pPr>
            <a:r>
              <a:rPr lang="en-US" sz="3200" dirty="0" err="1"/>
              <a:t>AppInit_DLLs</a:t>
            </a:r>
            <a:endParaRPr lang="en-US" sz="3200" dirty="0"/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DLL Load-Order Hijacking</a:t>
            </a:r>
          </a:p>
        </p:txBody>
      </p:sp>
    </p:spTree>
    <p:extLst>
      <p:ext uri="{BB962C8B-B14F-4D97-AF65-F5344CB8AC3E}">
        <p14:creationId xmlns:p14="http://schemas.microsoft.com/office/powerpoint/2010/main" val="10879137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325345"/>
          </a:xfrm>
        </p:spPr>
        <p:txBody>
          <a:bodyPr/>
          <a:lstStyle/>
          <a:p>
            <a:r>
              <a:rPr lang="en-US" sz="3200" dirty="0"/>
              <a:t>Which technique allows malware to load in Safe Mode?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Privilege escalation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IAT hooking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Inline hooking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 err="1"/>
              <a:t>Trojanized</a:t>
            </a:r>
            <a:r>
              <a:rPr lang="en-US" sz="3200" dirty="0"/>
              <a:t> system binaries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 err="1">
                <a:solidFill>
                  <a:srgbClr val="FF0000"/>
                </a:solidFill>
              </a:rPr>
              <a:t>Winlogon</a:t>
            </a:r>
            <a:r>
              <a:rPr lang="en-US" sz="3200" dirty="0">
                <a:solidFill>
                  <a:srgbClr val="FF0000"/>
                </a:solidFill>
              </a:rPr>
              <a:t> notify</a:t>
            </a:r>
          </a:p>
        </p:txBody>
      </p:sp>
    </p:spTree>
    <p:extLst>
      <p:ext uri="{BB962C8B-B14F-4D97-AF65-F5344CB8AC3E}">
        <p14:creationId xmlns:p14="http://schemas.microsoft.com/office/powerpoint/2010/main" val="10879137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738" y="4917141"/>
            <a:ext cx="7843484" cy="1013012"/>
          </a:xfrm>
        </p:spPr>
        <p:txBody>
          <a:bodyPr/>
          <a:lstStyle/>
          <a:p>
            <a:r>
              <a:rPr lang="en-US" sz="4800" dirty="0"/>
              <a:t>12: Covert Malware Launching </a:t>
            </a:r>
          </a:p>
        </p:txBody>
      </p:sp>
    </p:spTree>
    <p:extLst>
      <p:ext uri="{BB962C8B-B14F-4D97-AF65-F5344CB8AC3E}">
        <p14:creationId xmlns:p14="http://schemas.microsoft.com/office/powerpoint/2010/main" val="28033520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325345"/>
          </a:xfrm>
        </p:spPr>
        <p:txBody>
          <a:bodyPr/>
          <a:lstStyle/>
          <a:p>
            <a:r>
              <a:rPr lang="en-US" sz="3200" dirty="0"/>
              <a:t>What is the most popular covert launching technique?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DLL Injection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Direct injection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Process replacement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Hook injection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Detours</a:t>
            </a:r>
          </a:p>
        </p:txBody>
      </p:sp>
    </p:spTree>
    <p:extLst>
      <p:ext uri="{BB962C8B-B14F-4D97-AF65-F5344CB8AC3E}">
        <p14:creationId xmlns:p14="http://schemas.microsoft.com/office/powerpoint/2010/main" val="38791562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325345"/>
          </a:xfrm>
        </p:spPr>
        <p:txBody>
          <a:bodyPr/>
          <a:lstStyle/>
          <a:p>
            <a:r>
              <a:rPr lang="en-US" sz="3200" dirty="0"/>
              <a:t>Which technique only works in suspended states?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DLL Injection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Direct injection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Process replacement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Hook injection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Detours</a:t>
            </a:r>
          </a:p>
        </p:txBody>
      </p:sp>
    </p:spTree>
    <p:extLst>
      <p:ext uri="{BB962C8B-B14F-4D97-AF65-F5344CB8AC3E}">
        <p14:creationId xmlns:p14="http://schemas.microsoft.com/office/powerpoint/2010/main" val="17919810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Screen Shot 2013-12-08 at 2.49.5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25" y="1257300"/>
            <a:ext cx="70485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272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325345"/>
          </a:xfrm>
        </p:spPr>
        <p:txBody>
          <a:bodyPr/>
          <a:lstStyle/>
          <a:p>
            <a:r>
              <a:rPr lang="en-US" sz="3200" dirty="0"/>
              <a:t>Which technique allows kernel-mode malware to run user-space 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APC Injection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DLL Injection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Direct injection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Process replacement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Hook injection</a:t>
            </a:r>
          </a:p>
        </p:txBody>
      </p:sp>
    </p:spTree>
    <p:extLst>
      <p:ext uri="{BB962C8B-B14F-4D97-AF65-F5344CB8AC3E}">
        <p14:creationId xmlns:p14="http://schemas.microsoft.com/office/powerpoint/2010/main" val="17919810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Screen Shot 2013-12-08 at 2.48.5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863" y="2254250"/>
            <a:ext cx="6921500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577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738" y="4917141"/>
            <a:ext cx="7843484" cy="1013012"/>
          </a:xfrm>
        </p:spPr>
        <p:txBody>
          <a:bodyPr/>
          <a:lstStyle/>
          <a:p>
            <a:r>
              <a:rPr lang="en-US" sz="4800" dirty="0"/>
              <a:t>13: Data Encoding</a:t>
            </a:r>
          </a:p>
        </p:txBody>
      </p:sp>
    </p:spTree>
    <p:extLst>
      <p:ext uri="{BB962C8B-B14F-4D97-AF65-F5344CB8AC3E}">
        <p14:creationId xmlns:p14="http://schemas.microsoft.com/office/powerpoint/2010/main" val="33391085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325345"/>
          </a:xfrm>
        </p:spPr>
        <p:txBody>
          <a:bodyPr/>
          <a:lstStyle/>
          <a:p>
            <a:r>
              <a:rPr lang="en-US" sz="3200" dirty="0"/>
              <a:t>Which encoding leaves the length of the text unchanged?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XOR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ROL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Base64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ROT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More than one of the above</a:t>
            </a:r>
          </a:p>
        </p:txBody>
      </p:sp>
    </p:spTree>
    <p:extLst>
      <p:ext uri="{BB962C8B-B14F-4D97-AF65-F5344CB8AC3E}">
        <p14:creationId xmlns:p14="http://schemas.microsoft.com/office/powerpoint/2010/main" val="26909879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325345"/>
          </a:xfrm>
        </p:spPr>
        <p:txBody>
          <a:bodyPr/>
          <a:lstStyle/>
          <a:p>
            <a:r>
              <a:rPr lang="en-US" sz="3200" dirty="0"/>
              <a:t>Which encoding reverses itself?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XOR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ROL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Base64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ROT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More than one of the above</a:t>
            </a:r>
          </a:p>
        </p:txBody>
      </p:sp>
    </p:spTree>
    <p:extLst>
      <p:ext uri="{BB962C8B-B14F-4D97-AF65-F5344CB8AC3E}">
        <p14:creationId xmlns:p14="http://schemas.microsoft.com/office/powerpoint/2010/main" val="13682152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325345"/>
          </a:xfrm>
        </p:spPr>
        <p:txBody>
          <a:bodyPr/>
          <a:lstStyle/>
          <a:p>
            <a:r>
              <a:rPr lang="en-US" sz="3200" dirty="0"/>
              <a:t>Which encoding often produces text ending in = or ==?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XOR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ROL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Base64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ROT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More than one of the above</a:t>
            </a:r>
          </a:p>
        </p:txBody>
      </p:sp>
    </p:spTree>
    <p:extLst>
      <p:ext uri="{BB962C8B-B14F-4D97-AF65-F5344CB8AC3E}">
        <p14:creationId xmlns:p14="http://schemas.microsoft.com/office/powerpoint/2010/main" val="13682152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325345"/>
          </a:xfrm>
        </p:spPr>
        <p:txBody>
          <a:bodyPr/>
          <a:lstStyle/>
          <a:p>
            <a:r>
              <a:rPr lang="en-US" sz="3200" dirty="0"/>
              <a:t>What is the entropy of bytes that are all zero?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0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1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4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6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682152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325345"/>
          </a:xfrm>
        </p:spPr>
        <p:txBody>
          <a:bodyPr/>
          <a:lstStyle/>
          <a:p>
            <a:r>
              <a:rPr lang="en-US" sz="3200" dirty="0"/>
              <a:t>What is the entropy of encrypted  bytes?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0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1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4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rgbClr val="FF0000"/>
                </a:solidFill>
              </a:rPr>
              <a:t>6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3209582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738" y="4917141"/>
            <a:ext cx="7843484" cy="1013012"/>
          </a:xfrm>
        </p:spPr>
        <p:txBody>
          <a:bodyPr/>
          <a:lstStyle/>
          <a:p>
            <a:r>
              <a:rPr lang="en-US" sz="4800" dirty="0"/>
              <a:t>14: Malware-Focused Network Signatures </a:t>
            </a:r>
          </a:p>
        </p:txBody>
      </p:sp>
    </p:spTree>
    <p:extLst>
      <p:ext uri="{BB962C8B-B14F-4D97-AF65-F5344CB8AC3E}">
        <p14:creationId xmlns:p14="http://schemas.microsoft.com/office/powerpoint/2010/main" val="26461824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325345"/>
          </a:xfrm>
        </p:spPr>
        <p:txBody>
          <a:bodyPr/>
          <a:lstStyle/>
          <a:p>
            <a:r>
              <a:rPr lang="en-US" sz="3200" dirty="0"/>
              <a:t>Which technique below is most likely to breach OPSEC?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Check domain blacklists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 err="1"/>
              <a:t>Whois</a:t>
            </a:r>
            <a:endParaRPr lang="en-US" sz="3200" dirty="0"/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Upload sample to </a:t>
            </a:r>
            <a:r>
              <a:rPr lang="en-US" sz="3200" dirty="0" err="1"/>
              <a:t>VirusTotal</a:t>
            </a:r>
            <a:endParaRPr lang="en-US" sz="3200" dirty="0"/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View Google cache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Scan domain through Tor</a:t>
            </a:r>
          </a:p>
        </p:txBody>
      </p:sp>
    </p:spTree>
    <p:extLst>
      <p:ext uri="{BB962C8B-B14F-4D97-AF65-F5344CB8AC3E}">
        <p14:creationId xmlns:p14="http://schemas.microsoft.com/office/powerpoint/2010/main" val="42547565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325345"/>
          </a:xfrm>
        </p:spPr>
        <p:txBody>
          <a:bodyPr/>
          <a:lstStyle/>
          <a:p>
            <a:r>
              <a:rPr lang="en-US" sz="3200" dirty="0"/>
              <a:t>Which signals do owned hosts send to C&amp;C servers?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/>
              <a:t>Snort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Beacon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User-Agent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HTTP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DNS</a:t>
            </a:r>
          </a:p>
        </p:txBody>
      </p:sp>
    </p:spTree>
    <p:extLst>
      <p:ext uri="{BB962C8B-B14F-4D97-AF65-F5344CB8AC3E}">
        <p14:creationId xmlns:p14="http://schemas.microsoft.com/office/powerpoint/2010/main" val="27998449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6"/>
            <a:ext cx="7581901" cy="2325345"/>
          </a:xfrm>
        </p:spPr>
        <p:txBody>
          <a:bodyPr/>
          <a:lstStyle/>
          <a:p>
            <a:r>
              <a:rPr lang="en-US" sz="3200" dirty="0"/>
              <a:t>Which Windows networking API can download a file with a single function call?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2432921"/>
            <a:ext cx="7581901" cy="39534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200" dirty="0" err="1"/>
              <a:t>WInSock</a:t>
            </a:r>
            <a:endParaRPr lang="en-US" sz="3200" dirty="0"/>
          </a:p>
          <a:p>
            <a:pPr marL="514350" indent="-514350">
              <a:buFont typeface="+mj-lt"/>
              <a:buAutoNum type="alphaUcPeriod"/>
            </a:pPr>
            <a:r>
              <a:rPr lang="en-US" sz="3200" dirty="0" err="1"/>
              <a:t>WinINet</a:t>
            </a:r>
            <a:endParaRPr lang="en-US" sz="3200" dirty="0"/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COM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/>
              <a:t>All of the above</a:t>
            </a:r>
          </a:p>
        </p:txBody>
      </p:sp>
    </p:spTree>
    <p:extLst>
      <p:ext uri="{BB962C8B-B14F-4D97-AF65-F5344CB8AC3E}">
        <p14:creationId xmlns:p14="http://schemas.microsoft.com/office/powerpoint/2010/main" val="4435652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bit">
  <a:themeElements>
    <a:clrScheme name="Orbit">
      <a:dk1>
        <a:srgbClr val="000000"/>
      </a:dk1>
      <a:lt1>
        <a:srgbClr val="FFFFFF"/>
      </a:lt1>
      <a:dk2>
        <a:srgbClr val="7C9BA5"/>
      </a:dk2>
      <a:lt2>
        <a:srgbClr val="C1D0CA"/>
      </a:lt2>
      <a:accent1>
        <a:srgbClr val="F2D908"/>
      </a:accent1>
      <a:accent2>
        <a:srgbClr val="9DE61E"/>
      </a:accent2>
      <a:accent3>
        <a:srgbClr val="0D8BE6"/>
      </a:accent3>
      <a:accent4>
        <a:srgbClr val="C61B1B"/>
      </a:accent4>
      <a:accent5>
        <a:srgbClr val="E26F08"/>
      </a:accent5>
      <a:accent6>
        <a:srgbClr val="8D35D1"/>
      </a:accent6>
      <a:hlink>
        <a:srgbClr val="ECBF0B"/>
      </a:hlink>
      <a:folHlink>
        <a:srgbClr val="F4E5A8"/>
      </a:folHlink>
    </a:clrScheme>
    <a:fontScheme name="Orbit">
      <a:majorFont>
        <a:latin typeface="Candara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Candara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Orbit">
      <a:fillStyleLst>
        <a:solidFill>
          <a:schemeClr val="phClr"/>
        </a:solidFill>
        <a:solidFill>
          <a:schemeClr val="phClr">
            <a:shade val="80000"/>
          </a:schemeClr>
        </a:solidFill>
        <a:gradFill rotWithShape="1">
          <a:gsLst>
            <a:gs pos="0">
              <a:schemeClr val="phClr">
                <a:shade val="30000"/>
                <a:satMod val="100000"/>
              </a:schemeClr>
            </a:gs>
            <a:gs pos="80000">
              <a:schemeClr val="phClr">
                <a:shade val="90000"/>
                <a:satMod val="100000"/>
              </a:schemeClr>
            </a:gs>
            <a:gs pos="100000">
              <a:schemeClr val="phClr">
                <a:tint val="9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1750" cap="flat" cmpd="sng" algn="ctr">
          <a:solidFill>
            <a:schemeClr val="phClr">
              <a:shade val="90000"/>
            </a:schemeClr>
          </a:solidFill>
          <a:prstDash val="solid"/>
        </a:ln>
        <a:ln w="762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228600" dist="38100" dir="5400000" sx="104000" sy="104000" algn="ctr" rotWithShape="0">
              <a:srgbClr val="000000">
                <a:alpha val="80000"/>
              </a:srgbClr>
            </a:outerShdw>
          </a:effectLst>
        </a:effectStyle>
        <a:effectStyle>
          <a:effectLst>
            <a:outerShdw blurRad="317500" dist="381000" dir="5400000" sx="90000" sy="2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etal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1000"/>
                <a:lumMod val="80000"/>
              </a:schemeClr>
              <a:schemeClr val="phClr">
                <a:satMod val="360000"/>
                <a:lumMod val="14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Orbit.thmx</Template>
  <TotalTime>465</TotalTime>
  <Words>1024</Words>
  <Application>Microsoft Office PowerPoint</Application>
  <PresentationFormat>全屏显示(4:3)</PresentationFormat>
  <Paragraphs>283</Paragraphs>
  <Slides>63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65" baseType="lpstr">
      <vt:lpstr>Candara</vt:lpstr>
      <vt:lpstr>Orbit</vt:lpstr>
      <vt:lpstr>Review</vt:lpstr>
      <vt:lpstr>0: Malware Analysis Primer &amp; 1: Basic Static Techniques </vt:lpstr>
      <vt:lpstr>If you open a malware file in IDA Pro and determine the purpose of each module, which type of analysis are you performing?</vt:lpstr>
      <vt:lpstr>If you run strings.exe on a malware file, which type of analysis are you performing?</vt:lpstr>
      <vt:lpstr>Which type of the existence of other codmalware conceals e?</vt:lpstr>
      <vt:lpstr>2: Malware Analysis in Virtual Machines &amp; 3: Basic Dynamic Analysis </vt:lpstr>
      <vt:lpstr>Which item below can be used to conceal the strings in an executable?</vt:lpstr>
      <vt:lpstr>What type of file is calc.exe?</vt:lpstr>
      <vt:lpstr>How many bytes are used to store the string HELLO in Unicode?</vt:lpstr>
      <vt:lpstr>Which library is the interface to the Windows kernel?</vt:lpstr>
      <vt:lpstr>Which PE section contains CPU instructions?</vt:lpstr>
      <vt:lpstr>Which tool reveals which services are hosted by each instance of scvhost?</vt:lpstr>
      <vt:lpstr>Which tool is specifically intended to aid analysis of the network traffic from malware?</vt:lpstr>
      <vt:lpstr>4: A Crash Course in x86 Disassembly </vt:lpstr>
      <vt:lpstr>Which type of language contains commands like this? xor eax,eax</vt:lpstr>
      <vt:lpstr>Which memory section contains objects created by the malloc() function?</vt:lpstr>
      <vt:lpstr>Which register points to the top of the stack?</vt:lpstr>
      <vt:lpstr>What is the value in eax after these instructions?  mov ebx, 0x10 mov eax, ebx inc ebx</vt:lpstr>
      <vt:lpstr>5: IDA Pro </vt:lpstr>
      <vt:lpstr>In IDA Pro, you are in graph mode, as shown to the right.  How can you get into text mode, as shown in the lower image?</vt:lpstr>
      <vt:lpstr>6: Recognizing C Code Constructs in Assembly </vt:lpstr>
      <vt:lpstr>When printf("%d", 2); is executed, how is the value 2 passed to the printf function?</vt:lpstr>
      <vt:lpstr>7: Analyzing Malicious Windows Programs </vt:lpstr>
      <vt:lpstr>Which item allows malware to launch each time Windows is started?</vt:lpstr>
      <vt:lpstr>Which item is used to refer to a menu, process, or other Windows object? </vt:lpstr>
      <vt:lpstr>Which item allows interprocess communication?</vt:lpstr>
      <vt:lpstr>Which of these specifies what will happen after division by zero?</vt:lpstr>
      <vt:lpstr>Which of these items runs in kernel mode?</vt:lpstr>
      <vt:lpstr>PowerPoint 演示文稿</vt:lpstr>
      <vt:lpstr>8: Debugging </vt:lpstr>
      <vt:lpstr>Which debugger feature slows down execution substantially?</vt:lpstr>
      <vt:lpstr>What is the most common type of breakpoint?</vt:lpstr>
      <vt:lpstr>9: OllyDbg </vt:lpstr>
      <vt:lpstr>Which process requires a .reloc section?</vt:lpstr>
      <vt:lpstr>Which process happens when you press the - key in OllyDbg?</vt:lpstr>
      <vt:lpstr>10: Kernel Debugging with WinDbg </vt:lpstr>
      <vt:lpstr>How many of these objects run in kernel mode?  Driver Device object Ntdll.exe Ntoskrnl.exe Kernel32.dll</vt:lpstr>
      <vt:lpstr>PowerPoint 演示文稿</vt:lpstr>
      <vt:lpstr>Which software allows kernel debugging?</vt:lpstr>
      <vt:lpstr>Which software can analyze a crash dump?</vt:lpstr>
      <vt:lpstr>What technique is most commonly used in kernel-mode rootkits?</vt:lpstr>
      <vt:lpstr>11: Malware Behavior </vt:lpstr>
      <vt:lpstr>Which item refers to a connection originating from inside the Windows firewall?</vt:lpstr>
      <vt:lpstr>Which category contains Poison Ivy?</vt:lpstr>
      <vt:lpstr>Which technique specifically steals credentials?</vt:lpstr>
      <vt:lpstr> Which technique is also called Companion Trojan?</vt:lpstr>
      <vt:lpstr>Which technique allows malware to load in Safe Mode?</vt:lpstr>
      <vt:lpstr>12: Covert Malware Launching </vt:lpstr>
      <vt:lpstr>What is the most popular covert launching technique?</vt:lpstr>
      <vt:lpstr>Which technique only works in suspended states?</vt:lpstr>
      <vt:lpstr>PowerPoint 演示文稿</vt:lpstr>
      <vt:lpstr>Which technique allows kernel-mode malware to run user-space code?</vt:lpstr>
      <vt:lpstr>PowerPoint 演示文稿</vt:lpstr>
      <vt:lpstr>13: Data Encoding</vt:lpstr>
      <vt:lpstr>Which encoding leaves the length of the text unchanged?</vt:lpstr>
      <vt:lpstr>Which encoding reverses itself?</vt:lpstr>
      <vt:lpstr>Which encoding often produces text ending in = or ==?</vt:lpstr>
      <vt:lpstr>What is the entropy of bytes that are all zero?</vt:lpstr>
      <vt:lpstr>What is the entropy of encrypted  bytes?</vt:lpstr>
      <vt:lpstr>14: Malware-Focused Network Signatures </vt:lpstr>
      <vt:lpstr>Which technique below is most likely to breach OPSEC?</vt:lpstr>
      <vt:lpstr>Which signals do owned hosts send to C&amp;C servers?</vt:lpstr>
      <vt:lpstr>Which Windows networking API can download a file with a single function call?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</dc:title>
  <dc:creator>Sam Bowne</dc:creator>
  <cp:lastModifiedBy>皓喆 陆</cp:lastModifiedBy>
  <cp:revision>54</cp:revision>
  <dcterms:created xsi:type="dcterms:W3CDTF">2013-12-08T17:42:30Z</dcterms:created>
  <dcterms:modified xsi:type="dcterms:W3CDTF">2024-12-29T11:34:04Z</dcterms:modified>
</cp:coreProperties>
</file>